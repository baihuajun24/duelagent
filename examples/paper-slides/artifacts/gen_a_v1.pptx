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标题页。这篇文章来自LLNL和UMD，研究如何通过投机性工具调用来优化Agent推理的性能。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大纲。分7个部分讲，重点在两个算法和实验结果。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动机：LM Agent严重依赖工具调用，但每次工具调用都会打断推理流程。主要开销：(1)等待工具执行 (2)序列从batch中驱逐 (3)重新prefill历史。多租户场景下prefix-caching效果也打折。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背景：工具调用的流水线。关键观察——如果能提前预测工具调用，就可以把工具执行和模型生成overlap起来，甚至完全避免序列驱逐。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对比传统Speculative Decoding：传统方法draft model只领先几个token，对工具调用延迟几乎没帮助。本文的方法是直接用小模型预测工具调用，提前执行工具，把工具延迟和生成时间overlap。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客户端算法：同时向主模型M和投机模型S发送prompt。S更小更快，先返回工具调用预测，立即异步执行。M返回后如果调用了同一个工具，直接复用缓存结果。可以用多个投机样本(λ)提高命中率。完全不需要修改推理引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理论分析：客户端投机的加速比严格小于2。直觉：我们只能把工具执行和生成其中之一overlap掉。最佳情况：T≈G（工具延迟接近生成时间），α高，g/G低。这个Lemma有严格证明。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引擎端算法：三个优化。O1：和客户端一样提前投机工具。O2：如果缓存中有工具调用，用speculative sampling验证，一次forward pass搞定。O3：工具输出直接追加到KV-cache，避免序列驱逐和重新prefill。需要修改推理引擎（vLLM fork）并暴露一个新API。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引擎端运行时分析。当α=1时，完全节省了工具延迟、大部分decode开销和API overhead。最优条件：工具执行时间&lt;推理时间。现代reasoning model推理时间很长，很多常见工具能在这个时间内完成。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作者提出了一个简单的API接口，让推理提供商可以轻松支持工具缓存。这个设计很实际——和现有的prefix-cache优惠模型自然对接。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实验设置。主模型用120B reasoning model，投机模型用xLAM系列（专门为工具调用fine-tune的Llama）。用BFCL数据集，控制工具延迟来系统性地测试。并发Agent数为1/8/32。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结果1：接受率vs吞吐量。理论预测完全成立。8B投机模型最准，但1B通过多次采样也能接近。实际改善幅度达到每秒数百token。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结果2：时间节省。32个并发Agent，1次投机。甜蜜点在T≈2-2.5秒。这和理论分析完全一致（T≈G时最优）。即使是短工具（0.5s）也有6%的节省。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成本分析。用gpt-5-nano做gpt-5的投机模型。1次投机只增加4%成本就能节省10%时间，非常划算。9次投机边际收益递减。建议1-3次投机。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引擎端结果。在客户端基础上再多2-3%。对短工具（0-1秒）效果最好，这恰好是Agent最常用的工具类型。目前受限于vLLM speculative decoding的实验性实现，只测了1个Agent。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讨论。优势：客户端方案零修改即可用，理论分析扎实，API设计实用。局限：只能用于无状态工具，加速比上限2x，引擎端方案还不够成熟。讨论点：和我们的speculative decoding工作的联系、能否与parallel tool calling组合、实际部署中的泛化性。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感谢！开放讨论。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4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Optimizing Agentic Language Model</a:t>
            </a:r>
            <a:br/>
            <a:r>
              <a:t>Inference via Speculative Tool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AABBCC"/>
                </a:solidFill>
                <a:latin typeface="Calibri"/>
              </a:defRPr>
            </a:pPr>
            <a:r>
              <a:rPr>
                <a:latin typeface="Calibri"/>
              </a:rPr>
              <a:t>Daniel Nichols, Prajwal Singhania, Charles Jekel, Abhinav Bhatele, Harshitha Menon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Lawrence Livermore National Laboratory  &amp;  University of Maryland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arXiv: 2512.15834  |  Under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3657600" cy="3657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Group Meeting  |  Presented by [Presenter]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20"/>
              </a:spcBef>
              <a:spcAft>
                <a:spcPts val="88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 1.  Motivation: Why tool calling is a bottleneck for LM agents</a:t>
            </a:r>
          </a:p>
          <a:p>
            <a:pPr>
              <a:spcBef>
                <a:spcPts val="220"/>
              </a:spcBef>
              <a:spcAft>
                <a:spcPts val="88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 2.  Background: Tool calling pipeline &amp; speculative decoding</a:t>
            </a:r>
          </a:p>
          <a:p>
            <a:pPr>
              <a:spcBef>
                <a:spcPts val="220"/>
              </a:spcBef>
              <a:spcAft>
                <a:spcPts val="88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 3.  Client-side Speculative Tool Calling (Algorithm + Analysis)</a:t>
            </a:r>
          </a:p>
          <a:p>
            <a:pPr>
              <a:spcBef>
                <a:spcPts val="220"/>
              </a:spcBef>
              <a:spcAft>
                <a:spcPts val="88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 4.  Engine-side Speculative Tool Calling (Algorithm + Analysis)</a:t>
            </a:r>
          </a:p>
          <a:p>
            <a:pPr>
              <a:spcBef>
                <a:spcPts val="220"/>
              </a:spcBef>
              <a:spcAft>
                <a:spcPts val="88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 5.  Experimental Setup (BFCL, xLAM, gpt-oss-120b)</a:t>
            </a:r>
          </a:p>
          <a:p>
            <a:pPr>
              <a:spcBef>
                <a:spcPts val="220"/>
              </a:spcBef>
              <a:spcAft>
                <a:spcPts val="88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 6.  Results: Throughput, Time Saved, Cost</a:t>
            </a:r>
          </a:p>
          <a:p>
            <a:pPr>
              <a:spcBef>
                <a:spcPts val="220"/>
              </a:spcBef>
              <a:spcAft>
                <a:spcPts val="88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 7.  Discussion &amp;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Motivation: Tool Calling is a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Modern LM agents depend heavily on external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"/>
              </a:spcBef>
              <a:spcAft>
                <a:spcPts val="64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LM agents (SWE-Agent, code copilots, etc.) rely on tools:</a:t>
            </a:r>
            <a:br/>
            <a:r>
              <a:t>  file search, code execution, web search, API calls</a:t>
            </a:r>
          </a:p>
          <a:p>
            <a:pPr>
              <a:spcBef>
                <a:spcPts val="160"/>
              </a:spcBef>
              <a:spcAft>
                <a:spcPts val="64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Each tool call breaks generation:</a:t>
            </a:r>
            <a:br/>
            <a:r>
              <a:t>  generate → stop → run tool → re-prefill → generate</a:t>
            </a:r>
          </a:p>
          <a:p>
            <a:pPr>
              <a:spcBef>
                <a:spcPts val="160"/>
              </a:spcBef>
              <a:spcAft>
                <a:spcPts val="64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Sequential dependency: tool latencies accumulate</a:t>
            </a:r>
          </a:p>
          <a:p>
            <a:pPr>
              <a:spcBef>
                <a:spcPts val="160"/>
              </a:spcBef>
              <a:spcAft>
                <a:spcPts val="64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Eviction overhead: sequence removed from batch,</a:t>
            </a:r>
            <a:br/>
            <a:r>
              <a:t>  KV-cache discarded, must re-prefill on return</a:t>
            </a:r>
          </a:p>
          <a:p>
            <a:pPr>
              <a:spcBef>
                <a:spcPts val="160"/>
              </a:spcBef>
              <a:spcAft>
                <a:spcPts val="64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Multi-tenant: many agents contending for resources</a:t>
            </a:r>
            <a:br/>
            <a:r>
              <a:t>  makes prefix-caching less effective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5029200" cy="365760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9260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[results-overview.pdf]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5074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Fig 1: Up to 196 tok/s improvement with 32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Background: Tool Calling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How tools work in LM inference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645920" cy="9144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Prompt</a:t>
            </a:r>
            <a:br/>
            <a:r>
              <a:t>Prefill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011680"/>
            <a:ext cx="2011680" cy="914400"/>
          </a:xfrm>
          <a:prstGeom prst="roundRect">
            <a:avLst/>
          </a:prstGeom>
          <a:solidFill>
            <a:srgbClr val="DD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Decode</a:t>
            </a:r>
            <a:br/>
            <a:r>
              <a:t>(reasoning)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011680"/>
            <a:ext cx="1097280" cy="914400"/>
          </a:xfrm>
          <a:prstGeom prst="roundRect">
            <a:avLst/>
          </a:prstGeom>
          <a:solidFill>
            <a:srgbClr val="CC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Tool Call</a:t>
            </a:r>
            <a:br/>
            <a:r>
              <a:t>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1828800" cy="914400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WAIT:</a:t>
            </a:r>
            <a:br/>
            <a:r>
              <a:t>Tool Exec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011680"/>
            <a:ext cx="1645920" cy="91440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Re-prefill</a:t>
            </a:r>
            <a:br/>
            <a:r>
              <a:t>(history+output)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60" y="2011680"/>
            <a:ext cx="1371600" cy="914400"/>
          </a:xfrm>
          <a:prstGeom prst="roundRect">
            <a:avLst/>
          </a:prstGeom>
          <a:solidFill>
            <a:srgbClr val="DD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Decode</a:t>
            </a:r>
            <a:br/>
            <a:r>
              <a:t>(continue)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10312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40"/>
              </a:spcAft>
              <a:defRPr sz="28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Existing Optimizations (partial solutions):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Parallel tool calls: model returns multiple</a:t>
            </a:r>
            <a:br/>
            <a:r>
              <a:t>  tool invocations per turn (but needs training)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Prefix caching: reuse KV-cache for repeated</a:t>
            </a:r>
            <a:br/>
            <a:r>
              <a:t>  prefixes (but eviction overhead remains)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31920"/>
            <a:ext cx="5303520" cy="2103120"/>
          </a:xfrm>
          <a:prstGeom prst="roundRect">
            <a:avLst/>
          </a:prstGeom>
          <a:solidFill>
            <a:srgbClr val="FEF3E2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114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E86C00"/>
                </a:solidFill>
                <a:latin typeface="Calibri"/>
              </a:defRPr>
            </a:pPr>
            <a:r>
              <a:rPr>
                <a:latin typeface="Calibri"/>
              </a:rPr>
              <a:t>Key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What if we could predict the tool call BEFORE the</a:t>
            </a:r>
            <a:br/>
            <a:r>
              <a:t>main model finishes, and start executing it early?</a:t>
            </a:r>
            <a:br/>
            <a:br/>
            <a:r>
              <a:t>→ Overlap tool execution with generation</a:t>
            </a:r>
            <a:br/>
            <a:r>
              <a:t>→ Avoid eviction entirely if result is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Speculative Decoding vs. Speculative Tool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Similar idea, but key differences in how speculation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475488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Speculative Decoding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Small draft model proposes ~3-10 tokens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Target model validates in single forward pass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Only saves milliseconds per step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Draft model only ever a few tokens ahead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Great for continuous generation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Does NOT help with tool call latency:</a:t>
            </a:r>
            <a:br/>
            <a:r>
              <a:t>  overlapping 10 tokens ≈ few ms ≪ tool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303520" cy="4754880"/>
          </a:xfrm>
          <a:prstGeom prst="round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E86C00"/>
                </a:solidFill>
                <a:latin typeface="Calibri"/>
              </a:defRPr>
            </a:pPr>
            <a:r>
              <a:rPr>
                <a:latin typeface="Calibri"/>
              </a:rPr>
              <a:t>Speculative Tool Calling (This Paper)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Small model predicts which tool to call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Tool launched immediately (async), before</a:t>
            </a:r>
            <a:br/>
            <a:r>
              <a:t>  main model finishes generating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Overlaps entire tool execution with generation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Can save seconds (tool latency ≈ 0.5-3s)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Speculate as early and as many times as possible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Works with stateless, cheap tools</a:t>
            </a:r>
            <a:br/>
            <a:r>
              <a:t>  (web search, file read, ls, API calls)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Algorithm 1: Client-side Speculative Tool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No modification to inference engine needed — works with any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365760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[client-side.pdf]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Fig 2: Client sends prompt to both main model M and speculative model S in parallel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Algorithm Steps: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1) Send prompt to main model M and speculative model S simultaneously (async)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2) When S returns a tool call → launch tool async, store future in cache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3) When M returns → if same tool was predicted, reuse cached result instead of re-running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4) Multiple speculative samples (λ) increase hit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Theoretical Analysis: Client-side Speedup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What's the maximum possible improvement?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2011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Runtime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Consolas"/>
              </a:defRPr>
            </a:pPr>
            <a:r>
              <a:rPr>
                <a:latin typeface="Consolas"/>
              </a:rPr>
              <a:t>T_standard = N × (G + T)</a:t>
            </a:r>
            <a:br/>
            <a:r>
              <a:t>T_spec = α·N·max{G, g+T} + (1-α)·N·(G+T)</a:t>
            </a:r>
            <a:br/>
            <a:br/>
            <a:r>
              <a:t>where G = main model generation time, g = spec model time,</a:t>
            </a:r>
            <a:br/>
            <a:r>
              <a:t>         T = tool execution time, α = speculation acceptance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566160"/>
            <a:ext cx="5303520" cy="2560320"/>
          </a:xfrm>
          <a:prstGeom prst="roundRect">
            <a:avLst/>
          </a:prstGeom>
          <a:solidFill>
            <a:srgbClr val="FEF3E2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E86C00"/>
                </a:solidFill>
                <a:latin typeface="Calibri"/>
              </a:defRPr>
            </a:pPr>
            <a:r>
              <a:rPr>
                <a:latin typeface="Calibri"/>
              </a:rPr>
              <a:t>Speedup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Consolas"/>
              </a:defRPr>
            </a:pPr>
            <a:r>
              <a:rPr>
                <a:latin typeface="Consolas"/>
              </a:rPr>
              <a:t>S_spec = (G + T) / [α·max{G, g+T} + (1-α)(G+T)]</a:t>
            </a:r>
            <a:br/>
            <a:br/>
            <a:r>
              <a:t>Conditions for speedup &gt; 1:</a:t>
            </a:r>
            <a:br/>
            <a:r>
              <a:t>  • α &gt; 0  (non-zero acceptance rate)</a:t>
            </a:r>
            <a:br/>
            <a:r>
              <a:t>  • g &lt; G  (spec model faster than main)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486400" cy="25603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2E8B57"/>
                </a:solidFill>
                <a:latin typeface="Calibri"/>
              </a:defRPr>
            </a:pPr>
            <a:r>
              <a:rPr>
                <a:latin typeface="Calibri"/>
              </a:rPr>
              <a:t>Lemma: Speedup 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S_spec &lt; 2  (strictly bounded!)</a:t>
            </a:r>
            <a:br/>
            <a:br/>
            <a:r>
              <a:t>• Maximum speedup approaches 2× only as g → 0</a:t>
            </a:r>
            <a:br/>
            <a:r>
              <a:t>• Best gains when T ≈ G (tool time ≈ gen time)</a:t>
            </a:r>
            <a:br/>
            <a:r>
              <a:t>• As T → 0 or T → ∞, gains diminish</a:t>
            </a:r>
            <a:br/>
            <a:r>
              <a:t>• Client-side can only hide ONE of the two phases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6217920"/>
            <a:ext cx="11247120" cy="9144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[client-side-spec-model-speedup-heatmap.pdf]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Algorithm 2: Engine-side Speculative Tool Calling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Push tool results INTO the inference engine — avoid eviction entirely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320040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[engine-side.pdf]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Fig 3: Speculated tool outputs are submitted to the engine via a new cache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Three Optimizations (O1 + O2 + O3):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03520"/>
            <a:ext cx="3474720" cy="1280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O1: Speculate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60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Same as client-side: predict</a:t>
            </a:r>
            <a:br/>
            <a:r>
              <a:t>tool call early, overlap exec</a:t>
            </a:r>
            <a:br/>
            <a:r>
              <a:t>with generation. Saves Σ T_i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5303520"/>
            <a:ext cx="3474720" cy="1280160"/>
          </a:xfrm>
          <a:prstGeom prst="roundRect">
            <a:avLst/>
          </a:prstGeom>
          <a:solidFill>
            <a:srgbClr val="FEF3E2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E86C00"/>
                </a:solidFill>
                <a:latin typeface="Calibri"/>
              </a:defRPr>
            </a:pPr>
            <a:r>
              <a:rPr>
                <a:latin typeface="Calibri"/>
              </a:rPr>
              <a:t>O2: Early Exit 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5760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If tool call cached → inject as</a:t>
            </a:r>
            <a:br/>
            <a:r>
              <a:t>draft tokens → validate in 1</a:t>
            </a:r>
            <a:br/>
            <a:r>
              <a:t>forward pass. Saves δΣ(t_i-1)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5303520"/>
            <a:ext cx="3474720" cy="12801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2E8B57"/>
                </a:solidFill>
                <a:latin typeface="Calibri"/>
              </a:defRPr>
            </a:pPr>
            <a:r>
              <a:rPr>
                <a:latin typeface="Calibri"/>
              </a:rPr>
              <a:t>O3: No Eviction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7607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Append tool result directly to</a:t>
            </a:r>
            <a:br/>
            <a:r>
              <a:t>KV-cache → no evict, no re-</a:t>
            </a:r>
            <a:br/>
            <a:r>
              <a:t>prefill. Saves 2(K-1)·overhead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Engine-side Runtime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Modeling the savings from O1 + O2 + O3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Baseline (with prefix caching):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Consolas"/>
              </a:defRPr>
            </a:pPr>
            <a:r>
              <a:rPr>
                <a:latin typeface="Consolas"/>
              </a:rPr>
              <a:t>T_cached = 2Ko + φ(X₁ + Σ(tᵢ+t_o,i)) + δΣ(Rᵢ+tᵢ) + Σ Tᵢ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888888"/>
                </a:solidFill>
                <a:latin typeface="Consolas"/>
              </a:defRPr>
            </a:pPr>
            <a:r>
              <a:rPr>
                <a:latin typeface="Consolas"/>
              </a:rPr>
              <a:t>o = API overhead   φ = prefill rate   δ = decode rate   Rᵢ = reasoning tokens   tᵢ = tool call tokens   Tᵢ = tool duration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11247120" cy="2011680"/>
          </a:xfrm>
          <a:prstGeom prst="roundRect">
            <a:avLst/>
          </a:prstGeom>
          <a:solidFill>
            <a:srgbClr val="FEF3E2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E86C00"/>
                </a:solidFill>
                <a:latin typeface="Calibri"/>
              </a:defRPr>
            </a:pPr>
            <a:r>
              <a:rPr>
                <a:latin typeface="Calibri"/>
              </a:rPr>
              <a:t>With speculation (accuracy α):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Consolas"/>
              </a:defRPr>
            </a:pPr>
            <a:r>
              <a:rPr>
                <a:latin typeface="Consolas"/>
              </a:rPr>
              <a:t>T*_spec = (1-α)2Ko + φ(X₁ + Σ(tᵢ+t_o,i)) + δ(αK + ΣRᵢ + (1-α)Σtᵢ) + (1-α)Σ Tᵢ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E86C00"/>
                </a:solidFill>
                <a:latin typeface="Consolas"/>
              </a:defRPr>
            </a:pPr>
            <a:r>
              <a:rPr>
                <a:latin typeface="Consolas"/>
              </a:rPr>
              <a:t>At α=1: saves  2Ko (overhead) + δ(Σtᵢ - K) (decode) + Σ Tᵢ (tool latency)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rPr>
                <a:latin typeface="Calibri"/>
              </a:rPr>
              <a:t>Optimal when Tᵢ &lt; δRᵢ (tool finishes before main model stops reasoning) — ideal because modern reasoning models (o1, gpt-oss-120b) have long reasoning traces (seconds to minutes)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Proposed API: Tool Cache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Simple interface for providers to adopt these optimizations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5720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46304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61AFEF"/>
                </a:solidFill>
                <a:latin typeface="Consolas"/>
              </a:defRPr>
            </a:pPr>
            <a:r>
              <a:rPr>
                <a:latin typeface="Consolas"/>
              </a:rPr>
              <a:t>POST  /cache-tool-output/{response_id}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011680"/>
            <a:ext cx="8869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ABB2BF"/>
                </a:solidFill>
                <a:latin typeface="Consolas"/>
              </a:defRPr>
            </a:pPr>
            <a:r>
              <a:rPr>
                <a:latin typeface="Consolas"/>
              </a:rPr>
              <a:t>[</a:t>
            </a:r>
            <a:br/>
            <a:r>
              <a:t>  {</a:t>
            </a:r>
            <a:br/>
            <a:r>
              <a:t>    "name":       "web_search",        // tool name (required)</a:t>
            </a:r>
            <a:br/>
            <a:r>
              <a:t>    "params":     {"q": "vLLM docs"},   // canonicalized args (optional)</a:t>
            </a:r>
            <a:br/>
            <a:r>
              <a:t>    "output":     "vLLM is a ...",      // cached result (required)</a:t>
            </a:r>
            <a:br/>
            <a:r>
              <a:t>    "keep_alive": 60                    // TTL in seconds (optional)</a:t>
            </a:r>
            <a:br/>
            <a:r>
              <a:t>  }</a:t>
            </a:r>
            <a:br/>
            <a:r>
              <a:t>]</a:t>
            </a:r>
            <a:br/>
            <a:br/>
            <a:r>
              <a:t>Response:  200 OK  { "cached": 1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1264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Providers benefit: less inference time, higher throughput → can serve more users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Users benefit: faster responses, potential cost reduction (similar to prefix-cache discounts)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Hardware &amp;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4× NVIDIA A100 80GB GPUs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AMD EPYC 7763 CPU (64 cores)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Main model: 1 GPU, Spec model: 3 GPUs (DP)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Custom vLLM fork for engine-side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Python 3.12, CUDA 12.9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Main model M: gpt-oss-120b (reasoning model)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Speculative models S: xLAM-2-{1B, 3B, 8B}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 → Fine-tuned Llama for tool calling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  → 8B achieves ~80% tool prediction accuracy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Commercial: gpt-5, gpt-5-nano (API 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Benchmark &amp; 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BFCL dataset (tool calling benchmark)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Pre-computed tool outputs (black-box tools)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Configurable tool latencies:</a:t>
            </a:r>
            <a:br/>
            <a:r>
              <a:t>  short: 0-0.5s,  long: 0-3s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M concurrent agents: {1, 8, 32}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Each agent completes 32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Hyperparameter Sweep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Speculation samples λ: {1, 3, 5, 7, 9}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Tool latency distributions (random normal)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3 configs: no spec, client-side, engine-side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5 runs per configuration (variance control)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Results: Client-side — Acceptance Rate vs Throughput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411480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[acceptance_rates_tool_latency_1p5s.pdf]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40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Throughput vs acceptance rate (tool latency = 1.5s)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4114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Clear trend: higher acceptance rate</a:t>
            </a:r>
            <a:br/>
            <a:r>
              <a:t>  → higher throughput (validates theory)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xLAM-8B: best accuracy (~80%)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Smaller models compensate with more</a:t>
            </a:r>
            <a:br/>
            <a:r>
              <a:t>  samples: 1B@9× ≈ 60% higher hit rate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Trade-off: memory constraints may</a:t>
            </a:r>
            <a:br/>
            <a:r>
              <a:t>  favor smaller model + more samples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Throughput improves by hundreds of</a:t>
            </a:r>
            <a:br/>
            <a:r>
              <a:t>  tokens/second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Results: Client-side — Time Saved vs Tool Latency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411480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[time-saved_32_clients_1_num_spec.pdf]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40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Time saved (%) vs tool latency, 32 concurrent agents, λ=1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4114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6-21% end-to-end time saved per agent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Short tools (~0.5s): still ~6% savings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Sweet spot: T ≈ 2.0-2.5s (≈ gen time G)</a:t>
            </a:r>
            <a:br/>
            <a:r>
              <a:t>  → up to 21% saved (matches theory!)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Very long tools: savings decrease</a:t>
            </a:r>
            <a:br/>
            <a:r>
              <a:t>  (tool dominates, speculation only helps partially)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xLAM-8B consistently best across all</a:t>
            </a:r>
            <a:br/>
            <a:r>
              <a:t>  tool latency ranges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2E8B57"/>
                </a:solidFill>
                <a:latin typeface="Calibri"/>
              </a:defRPr>
            </a:pPr>
            <a:r>
              <a:rPr>
                <a:latin typeface="Calibri"/>
              </a:rPr>
              <a:t>Observation: Without any changes to the inference engine, client-side speculation achieves 6-21% time savings. Best when tool latency ≈ model generation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Results: Cost Analysis (Commercial APIs)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411480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[results-cost-spec-client.pdf]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40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Time saved vs added cost, gpt-5 + gpt-5-nano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4114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Cost-Benefit Trade-off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Using gpt-5-nano as speculator for gpt-5: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1× speculation: ~10% time saved</a:t>
            </a:r>
            <a:br/>
            <a:r>
              <a:t>  for only ~4% cost increase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9× speculation: marginally more time saved</a:t>
            </a:r>
            <a:br/>
            <a:r>
              <a:t>  but 25-30% cost increase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Sweet spot: 1-3 speculative samples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Could integrate with existing prefix-cache</a:t>
            </a:r>
            <a:br/>
            <a:r>
              <a:t>  discount pricing models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Results: Engine-side — Additional Gains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4114800"/>
          </a:xfrm>
          <a:prstGeom prst="roundRect">
            <a:avLst/>
          </a:prstGeom>
          <a:solidFill>
            <a:srgbClr val="EEEEEE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2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[time-saved_1_clients_1_num_spec_by-alg.pdf]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40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59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Client-side vs Engine-side, 1 agent, xLAM-8B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4114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Engine-side vs Client-side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Additional 2-3% time saved on top of</a:t>
            </a:r>
            <a:br/>
            <a:r>
              <a:t>  client-side gains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Best when tool latency &lt; reasoning time</a:t>
            </a:r>
            <a:br/>
            <a:r>
              <a:t>  (tool result ready before M finishes)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Ideal regime: 0-1s tools (ls, web search,</a:t>
            </a:r>
            <a:br/>
            <a:r>
              <a:t>  file read) — common in real agents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Long tools (&gt;1s): no extra benefit over</a:t>
            </a:r>
            <a:br/>
            <a:r>
              <a:t>  client-side (result arrives too late)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Note: tested with 1 agent due to vLLM</a:t>
            </a:r>
            <a:br/>
            <a:r>
              <a:t>  spec-dec overhead with batch &gt;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2E8B57"/>
                </a:solidFill>
                <a:latin typeface="Calibri"/>
              </a:defRPr>
            </a:pPr>
            <a:r>
              <a:rPr>
                <a:latin typeface="Calibri"/>
              </a:rPr>
              <a:t>Engine-side speculation adds 2-3% savings by avoiding eviction and re-prefill. Combined with client-side, total savings: 8-24% per agent turn.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06699"/>
                </a:solidFill>
                <a:latin typeface="Calibri"/>
              </a:defRPr>
            </a:pPr>
            <a:r>
              <a:rPr>
                <a:latin typeface="Calibri"/>
              </a:rPr>
              <a:t>Discussion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03520" cy="27432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2E8B57"/>
                </a:solidFill>
                <a:latin typeface="Calibri"/>
              </a:defRPr>
            </a:pPr>
            <a:r>
              <a:rPr>
                <a:latin typeface="Calibri"/>
              </a:rP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Client-side works with ANY API (zero changes)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Solid theoretical foundation with proofs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Practical cost-benefit analysis for commercial use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Clean API design for adoption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Leverages existing small tool-calling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2743200"/>
          </a:xfrm>
          <a:prstGeom prst="roundRect">
            <a:avLst/>
          </a:prstGeom>
          <a:solidFill>
            <a:srgbClr val="FDE8E8"/>
          </a:solidFill>
          <a:ln w="190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CC3333"/>
                </a:solidFill>
                <a:latin typeface="Calibri"/>
              </a:defRPr>
            </a:pPr>
            <a:r>
              <a:rPr>
                <a:latin typeface="Calibri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Only works for stateless, cheap tools</a:t>
            </a:r>
            <a:br/>
            <a:r>
              <a:t>  (no state-modifying tools like file write)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Client-side bounded at 2× speedup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Engine-side only tested with batch=1</a:t>
            </a:r>
            <a:br/>
            <a:r>
              <a:t>  (vLLM spec-dec overhead at larger batch)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Simulated tools (pre-computed outputs),</a:t>
            </a:r>
            <a:br/>
            <a:r>
              <a:t>  not fully end-to-end with real tools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xLAM models specific to BFCL tools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47120" cy="2286000"/>
          </a:xfrm>
          <a:prstGeom prst="roundRect">
            <a:avLst/>
          </a:prstGeom>
          <a:solidFill>
            <a:srgbClr val="F0E6FF"/>
          </a:solidFill>
          <a:ln w="19050"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663399"/>
                </a:solidFill>
                <a:latin typeface="Calibri"/>
              </a:defRPr>
            </a:pPr>
            <a:r>
              <a:rPr>
                <a:latin typeface="Calibri"/>
              </a:rPr>
              <a:t>My Thoughts / Discussion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Connection to our work: speculative decoding for LLM inference optimization — same spirit, different target (tokens vs tools)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Can this compose with parallel tool calling? Model predicts multiple tools → speculate all of them?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Real-world deployment: how does acceptance rate degrade on diverse, unseen tools?</a:t>
            </a:r>
          </a:p>
          <a:p>
            <a:pPr>
              <a:spcBef>
                <a:spcPts val="150"/>
              </a:spcBef>
              <a:spcAft>
                <a:spcPts val="6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Interesting API design — could become standard if adopted by OpenAI/Anthropic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39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rPr>
                <a:latin typeface="Calibri"/>
              </a:rPr>
              <a:t>Thank You!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383280"/>
            <a:ext cx="3017520" cy="36576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19"/>
              </a:spcAft>
              <a:defRPr sz="2400" b="0">
                <a:solidFill>
                  <a:srgbClr val="AABBCC"/>
                </a:solidFill>
                <a:latin typeface="Calibri"/>
              </a:defRPr>
            </a:pPr>
            <a:r>
              <a:rPr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rPr>
                <a:latin typeface="Calibri"/>
              </a:rPr>
              <a:t>Paper: arXiv 2512.15834</a:t>
            </a:r>
            <a:br/>
            <a:r>
              <a:t>Nichols et al. — LLNL &amp; University of Maryland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