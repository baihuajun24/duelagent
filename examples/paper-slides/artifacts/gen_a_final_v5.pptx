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 min)</a:t>
            </a:r>
          </a:p>
          <a:p>
            <a:r>
              <a:t>• Introduce title, authors, affiliation</a:t>
            </a:r>
          </a:p>
          <a:p>
            <a:r>
              <a:t>• Preview talk structure: Motivation → Method → Theory → Results → Discussion</a:t>
            </a:r>
          </a:p>
          <a:p>
            <a:r>
              <a:t>• Paper from LLNL + UMD, on optimizing agent inference</a:t>
            </a:r>
          </a:p>
          <a:p>
            <a:r>
              <a:t>→ Transition: Let’s start with why tool calls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(~2 min)</a:t>
            </a:r>
          </a:p>
          <a:p>
            <a:r>
              <a:t>• Tool calls interrupt inference: stop, wait, evict, re-prefill</a:t>
            </a:r>
          </a:p>
          <a:p>
            <a:r>
              <a:t>• Three cards: idle wait (0.5–3s), eviction overhead, accumulation (5–20 calls)</a:t>
            </a:r>
          </a:p>
          <a:p>
            <a:r>
              <a:t>• Bottom figure: headline result (196 tok/s improvement)</a:t>
            </a:r>
          </a:p>
          <a:p>
            <a:r>
              <a:t>→ Transition: Let’s look at the standard pipeline to see where the bottleneck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(~1.5 min)</a:t>
            </a:r>
          </a:p>
          <a:p>
            <a:r>
              <a:t>• Walk through the 6-phase timeline left to right</a:t>
            </a:r>
          </a:p>
          <a:p>
            <a:r>
              <a:t>• Emphasize WAIT (red box): 0.5–3s idle, model evicted</a:t>
            </a:r>
          </a:p>
          <a:p>
            <a:r>
              <a:t>• Takeaway: this repeats many times per task</a:t>
            </a:r>
          </a:p>
          <a:p>
            <a:r>
              <a:t>→ Transition: What partial solutions exist, and what gap remains?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(~1.5 min)</a:t>
            </a:r>
          </a:p>
          <a:p>
            <a:r>
              <a:t>• Parallel tool calls: fewer trips, needs training, sequential deps unsolved</a:t>
            </a:r>
          </a:p>
          <a:p>
            <a:r>
              <a:t>• Prefix caching: reuses KV, but eviction overhead stays</a:t>
            </a:r>
          </a:p>
          <a:p>
            <a:r>
              <a:t>• Green box: this paper’s core idea — speculate the tool call early</a:t>
            </a:r>
          </a:p>
          <a:p>
            <a:r>
              <a:t>• Note: spec decoding overlaps ms-level tokens; this overlaps s-level tools</a:t>
            </a:r>
          </a:p>
          <a:p>
            <a:r>
              <a:t>→ Transition: How does the client-side algorithm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(~2 min)</a:t>
            </a:r>
          </a:p>
          <a:p>
            <a:r>
              <a:t>• Walk through the figure: dual dispatch to M and S</a:t>
            </a:r>
          </a:p>
          <a:p>
            <a:r>
              <a:t>• S is smaller/faster, returns first → tool starts immediately</a:t>
            </a:r>
          </a:p>
          <a:p>
            <a:r>
              <a:t>• M returns → cache check: hit = reuse, miss = run normally</a:t>
            </a:r>
          </a:p>
          <a:p>
            <a:r>
              <a:t>• λ parallel samples: 1B@9× ≈ 8B@1× in hit rate</a:t>
            </a:r>
          </a:p>
          <a:p>
            <a:r>
              <a:t>→ Transition: The engine-side adds three more optimizations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(~2 min)</a:t>
            </a:r>
          </a:p>
          <a:p>
            <a:r>
              <a:t>• O1: same speculative launch as client-side</a:t>
            </a:r>
          </a:p>
          <a:p>
            <a:r>
              <a:t>• O2: inject cached tool-call tokens as draft, validate in 1 pass (skip decode)</a:t>
            </a:r>
          </a:p>
          <a:p>
            <a:r>
              <a:t>• O3: append tool output to KV-cache in-place (no evict, no re-prefill)</a:t>
            </a:r>
          </a:p>
          <a:p>
            <a:r>
              <a:t>• Requires vLLM engine modification (fork)</a:t>
            </a:r>
          </a:p>
          <a:p>
            <a:r>
              <a:t>• Proposed API: POST /cache-tool-output/{response_id}</a:t>
            </a:r>
          </a:p>
          <a:p>
            <a:r>
              <a:t>→ Transition: When do these extra optimizations actually help?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(~1.5 min)</a:t>
            </a:r>
          </a:p>
          <a:p>
            <a:r>
              <a:t>• Plain-language condition: tool must finish before model stops reasoning</a:t>
            </a:r>
          </a:p>
          <a:p>
            <a:r>
              <a:t>• Left: fast tools (ls, search) + long reasoning = ideal</a:t>
            </a:r>
          </a:p>
          <a:p>
            <a:r>
              <a:t>• Right: slow tools or short reasoning = no extra gain from O2/O3</a:t>
            </a:r>
          </a:p>
          <a:p>
            <a:r>
              <a:t>• Formally: Tᵢ &lt; δRᵢ (tool time &lt; decode time for reasoning)</a:t>
            </a:r>
          </a:p>
          <a:p>
            <a:r>
              <a:t>→ Transition: Now let’s look at the theoretical speedup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(~2 min)</a:t>
            </a:r>
          </a:p>
          <a:p>
            <a:r>
              <a:t>• Start with intuition: can only hide one of two phases</a:t>
            </a:r>
          </a:p>
          <a:p>
            <a:r>
              <a:t>• Point to formula briefly — each symbol has a verbal label</a:t>
            </a:r>
          </a:p>
          <a:p>
            <a:r>
              <a:t>• Lemma: S &lt; 2 strictly. Best at T≈G, proof in appendix</a:t>
            </a:r>
          </a:p>
          <a:p>
            <a:r>
              <a:t>• Heatmap confirms: practical peak ~1.8×</a:t>
            </a:r>
          </a:p>
          <a:p>
            <a:r>
              <a:t>→ Transition: Let’s see if experiments match the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 min)</a:t>
            </a:r>
          </a:p>
          <a:p>
            <a:r>
              <a:t>• Quick overview: 120B main + xLAM spec on 4×A100</a:t>
            </a:r>
          </a:p>
          <a:p>
            <a:r>
              <a:t>• BFCL benchmark with pre-computed tool outputs</a:t>
            </a:r>
          </a:p>
          <a:p>
            <a:r>
              <a:t>• Three metrics: throughput, time saved, cost</a:t>
            </a:r>
          </a:p>
          <a:p>
            <a:r>
              <a:t>• Backup detail: λ={1,3,5,7,9}, latency short 0–0.5s / long 0–3s, 5 runs/config</a:t>
            </a:r>
          </a:p>
          <a:p>
            <a:r>
              <a:t>→ Transition: Client-side results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(~2 min)</a:t>
            </a:r>
          </a:p>
          <a:p>
            <a:r>
              <a:t>• Left: throughput vs acceptance rate — 8B best, 1B@9× close</a:t>
            </a:r>
          </a:p>
          <a:p>
            <a:r>
              <a:t>• Right: time saved vs tool latency (32 agents) — peak at T≈2–2.5s</a:t>
            </a:r>
          </a:p>
          <a:p>
            <a:r>
              <a:t>• Even short tools (0.5s) give 6% savings</a:t>
            </a:r>
          </a:p>
          <a:p>
            <a:r>
              <a:t>• Theory and experiment match perfectly — a paper highlight</a:t>
            </a:r>
          </a:p>
          <a:p>
            <a:r>
              <a:t>→ Transition: What does this cost in real money?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(~1.5 min)</a:t>
            </a:r>
          </a:p>
          <a:p>
            <a:r>
              <a:t>• λ=1 (one speculative sample) is the sweet spot</a:t>
            </a:r>
          </a:p>
          <a:p>
            <a:r>
              <a:t>• 10% time saved for 4% cost — easy sell for production</a:t>
            </a:r>
          </a:p>
          <a:p>
            <a:r>
              <a:t>• λ=9: diminishing returns, 25–30% cost increase</a:t>
            </a:r>
          </a:p>
          <a:p>
            <a:r>
              <a:t>• Fits prefix-cache discount pricing naturally</a:t>
            </a:r>
          </a:p>
          <a:p>
            <a:r>
              <a:t>→ Transition: How much more does engine-side add?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 min)</a:t>
            </a:r>
          </a:p>
          <a:p>
            <a:r>
              <a:t>• Figure: client vs engine-side, engine adds 2–3% for short tools</a:t>
            </a:r>
          </a:p>
          <a:p>
            <a:r>
              <a:t>• Long tools: no extra benefit (result arrives after decode)</a:t>
            </a:r>
          </a:p>
          <a:p>
            <a:r>
              <a:t>• Only tested batch=1 due to vLLM spec-dec overhead</a:t>
            </a:r>
          </a:p>
          <a:p>
            <a:r>
              <a:t>• Combined total: 8–24% per agent turn</a:t>
            </a:r>
          </a:p>
          <a:p>
            <a:r>
              <a:t>→ Transition: Let’s step back and evaluate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 min)</a:t>
            </a:r>
          </a:p>
          <a:p>
            <a:r>
              <a:t>• Three strengths, lead with the practical one: deploy today</a:t>
            </a:r>
          </a:p>
          <a:p>
            <a:r>
              <a:t>• Theory-experiment match is a standout quality</a:t>
            </a:r>
          </a:p>
          <a:p>
            <a:r>
              <a:t>• Cost analysis makes this actionable, not just theoretical</a:t>
            </a:r>
          </a:p>
          <a:p>
            <a:r>
              <a:t>• Also: clean API design (one POST endpoint) — mention verbally if asked</a:t>
            </a:r>
          </a:p>
          <a:p>
            <a:r>
              <a:t>→ Transition: What are the key limitations?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 min)</a:t>
            </a:r>
          </a:p>
          <a:p>
            <a:r>
              <a:t>• Three limitations, lead with the most important: stateless only</a:t>
            </a:r>
          </a:p>
          <a:p>
            <a:r>
              <a:t>• &lt;2× bound is fundamental (not fixable)</a:t>
            </a:r>
          </a:p>
          <a:p>
            <a:r>
              <a:t>• Engine-side maturity: batch=1, simulated tools</a:t>
            </a:r>
          </a:p>
          <a:p>
            <a:r>
              <a:t>• Also: no multi-tool sequential evaluation — mention verbally if asked</a:t>
            </a:r>
          </a:p>
          <a:p>
            <a:r>
              <a:t>→ Transition: Some open questions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(~3 min)</a:t>
            </a:r>
          </a:p>
          <a:p>
            <a:r>
              <a:t>• Q1: parallel tool calls + speculation — additive or redundant?</a:t>
            </a:r>
          </a:p>
          <a:p>
            <a:r>
              <a:t>• Q2: real-world accuracy beyond BFCL benchmarks</a:t>
            </a:r>
          </a:p>
          <a:p>
            <a:r>
              <a:t>• Q3: transactional rollback for stateful extension</a:t>
            </a:r>
          </a:p>
          <a:p>
            <a:r>
              <a:t>• Backup Q4 (if time): connection to our spec-decoding work</a:t>
            </a:r>
          </a:p>
          <a:p>
            <a:r>
              <a:t>• Give the group time to discuss each — this is the most valuable part</a:t>
            </a:r>
          </a:p>
          <a:p>
            <a:r>
              <a:t>→ Transition: Let me wrap up with a quick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 min)</a:t>
            </a:r>
          </a:p>
          <a:p>
            <a:r>
              <a:t>• Headline: small model predicts tools early — cheap and effective</a:t>
            </a:r>
          </a:p>
          <a:p>
            <a:r>
              <a:t>• Four key takeaways, read if needed or just land the headline</a:t>
            </a:r>
          </a:p>
          <a:p>
            <a:r>
              <a:t>• If time remains: proposed /cache-tool-output/ API for providers</a:t>
            </a:r>
          </a:p>
          <a:p>
            <a:r>
              <a:t>→ Transition: Thank you —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(~0.5 min)</a:t>
            </a:r>
          </a:p>
          <a:p>
            <a:r>
              <a:t>• Thank the audience</a:t>
            </a:r>
          </a:p>
          <a:p>
            <a:r>
              <a:t>• Open for questions</a:t>
            </a:r>
          </a:p>
          <a:p>
            <a:r>
              <a:t>• Backup slides available if deep questions arise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(Backup) Proof sketch for Q&amp;A.</a:t>
            </a:r>
          </a:p>
          <a:p>
            <a:r>
              <a:t>• Four steps: definition → limit → case analysis → strict inequality</a:t>
            </a:r>
          </a:p>
          <a:p>
            <a:r>
              <a:t>• Key insight: can only overlap one of G or T, never both</a:t>
            </a:r>
          </a:p>
          <a:p>
            <a:r>
              <a:t>• Full proof in paper Section 4, Lemma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(Backup) Engine-side runtime for deep questions.</a:t>
            </a:r>
          </a:p>
          <a:p>
            <a:r>
              <a:t>• Symbols: o=API overhead, φ=prefill rate, δ=decode rate</a:t>
            </a:r>
          </a:p>
          <a:p>
            <a:r>
              <a:t>• Rᵢ=reasoning tokens, tᵢ=tool call tokens, Tᵢ=tool exec time</a:t>
            </a:r>
          </a:p>
          <a:p>
            <a:r>
              <a:t>• At α=1: saves 2Ko + δ(Σtᵢ-K) + ΣTᵢ</a:t>
            </a:r>
          </a:p>
          <a:p>
            <a:r>
              <a:t>• Prefill cost unchanged (φ term stays)</a:t>
            </a:r>
          </a:p>
          <a:p>
            <a:r>
              <a:t>• Modern reasoning models have long Rᵢ → Tᵢ&lt;δRᵢ for most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Optimizing Agentic Language Model</a:t>
            </a:r>
            <a:br/>
            <a:r>
              <a:t>Inference via Speculative Tool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3657600" cy="36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0" i="0">
                <a:solidFill>
                  <a:srgbClr val="AABBCC"/>
                </a:solidFill>
                <a:latin typeface="Calibri"/>
              </a:defRPr>
            </a:pPr>
            <a:r>
              <a:t>Nichols, Singhania, Jekel, Bhatele, Menon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777777"/>
                </a:solidFill>
                <a:latin typeface="Calibri"/>
              </a:defRPr>
            </a:pPr>
            <a:r>
              <a:t>Lawrence Livermore National Laboratory  &amp;  University of Maryland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777777"/>
                </a:solidFill>
                <a:latin typeface="Calibri"/>
              </a:defRPr>
            </a:pPr>
            <a:r>
              <a:t>arXiv: 2512.15834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778899"/>
                </a:solidFill>
                <a:latin typeface="Calibri"/>
              </a:defRPr>
            </a:pPr>
            <a:r>
              <a:t>Motivation  ›  Method  ›  Theory  ›  Results  › 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777777"/>
                </a:solidFill>
                <a:latin typeface="Calibri"/>
              </a:defRPr>
            </a:pPr>
            <a:r>
              <a:t>Group Meeting  |  Presented by [Presenter]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[Motivation]  ›  Method  ›  Theory  ›  Results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Tool Calls Are a First-Order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Every tool call forces stop → wait → evict → re-prefill.</a:t>
            </a:r>
            <a:br/>
            <a:r>
              <a:t>Agents call 5–20 tools per task; latencies compound.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Idle Wait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Tool exec takes 0.5–3 s.</a:t>
            </a:r>
            <a:br/>
            <a:r>
              <a:t>Model sits idle.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Eviction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Sequence evicted from batch.</a:t>
            </a:r>
            <a:br/>
            <a:r>
              <a:t>Must re-prefill on return.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47472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Accumulation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88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5–20 sequential calls.</a:t>
            </a:r>
            <a:br/>
            <a:r>
              <a:t>Latencies stack up.</a:t>
            </a:r>
          </a:p>
        </p:txBody>
      </p:sp>
      <p:pic>
        <p:nvPicPr>
          <p:cNvPr id="15" name="Picture 14" descr="result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9418320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6035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Up to 196 tok/s improvement with speculative tool calls across 32 concurrent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[Motivation]  ›  Method  ›  Theory  ›  Results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The Standard Tool-Calling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One full cycle per tool call. The WAIT phase dominates.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554480" cy="12801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Prefill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011680"/>
            <a:ext cx="2103120" cy="12801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1371600" cy="1280160"/>
          </a:xfrm>
          <a:prstGeom prst="round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Emit Tool</a:t>
            </a:r>
            <a:br/>
            <a:r>
              <a:t>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011680"/>
            <a:ext cx="2286000" cy="128016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WAIT:</a:t>
            </a:r>
            <a:br/>
            <a:r>
              <a:t>Tool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011680"/>
            <a:ext cx="1737360" cy="12801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Re-prefill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52760" y="2011680"/>
            <a:ext cx="1371600" cy="12801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000" b="1" i="0">
                <a:solidFill>
                  <a:srgbClr val="7777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000" b="1" i="0">
                <a:solidFill>
                  <a:srgbClr val="7777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000" b="1" i="0">
                <a:solidFill>
                  <a:srgbClr val="7777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000" b="1" i="0">
                <a:solidFill>
                  <a:srgbClr val="7777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000" b="1" i="0">
                <a:solidFill>
                  <a:srgbClr val="7777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57600"/>
            <a:ext cx="5486400" cy="100584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74903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CC3333"/>
                </a:solidFill>
                <a:latin typeface="Calibri"/>
              </a:defRPr>
            </a:pPr>
            <a:r>
              <a:t>0.5–3 s idle per call. Model evicted from batch.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2E8B57"/>
                </a:solidFill>
                <a:latin typeface="Calibri"/>
              </a:defRPr>
            </a:pPr>
            <a:r>
              <a:t>This cycle repeats 5–20× per task. What if we start tool execution before the model requests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[Motivation]  ›  Method  ›  Theory  ›  Results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Prior Work &amp;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Existing methods reduce round-trips but cannot hide tool-wait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303520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Parallel Tool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Fewer round-trips, but needs training</a:t>
            </a:r>
            <a:br/>
            <a:r>
              <a:t>and can’t help sequential deps.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303520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Prefix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Reuses KV-cache, but eviction overhead</a:t>
            </a:r>
            <a:br/>
            <a:r>
              <a:t>remains under contention.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11247120" cy="2286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2E8B57"/>
                </a:solidFill>
                <a:latin typeface="Calibri"/>
              </a:defRPr>
            </a:pPr>
            <a:r>
              <a:t>This Paper’s Key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0" i="0">
                <a:solidFill>
                  <a:srgbClr val="333333"/>
                </a:solidFill>
                <a:latin typeface="Calibri"/>
              </a:defRPr>
            </a:pPr>
            <a:r>
              <a:t>Use a small model to predict the next tool call before the main model finishes.</a:t>
            </a:r>
            <a:br/>
            <a:r>
              <a:t>Launch it immediately → overlap tool exec with generation.</a:t>
            </a:r>
            <a:br/>
            <a:r>
              <a:t>Correct → zero wait.  Wrong → no worse than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[Method]  ›  Theory  ›  Results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Client-side: Zero Engine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Send prompt to M and S in parallel. S predicts the tool; it runs while M generates.</a:t>
            </a:r>
          </a:p>
        </p:txBody>
      </p:sp>
      <p:pic>
        <p:nvPicPr>
          <p:cNvPr id="6" name="Picture 5" descr="client-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77724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S returns first, launches the predicted tool. M agrees → result already cached, saving 0.5–3 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 returns first →</a:t>
            </a:r>
            <a:br/>
            <a:r>
              <a:t>tool launched early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 returns → cache</a:t>
            </a:r>
            <a:br/>
            <a:r>
              <a:t>hit: reuse; miss: run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λ parallel samples</a:t>
            </a:r>
            <a:br/>
            <a:r>
              <a:t>boost hit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035040"/>
            <a:ext cx="112471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8075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2E8B57"/>
                </a:solidFill>
                <a:latin typeface="Calibri"/>
              </a:defRPr>
            </a:pPr>
            <a:r>
              <a:t>No engine changes needed. Gains come from launching predicted tools early.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[Method]  ›  Theory  ›  Results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Engine-side: Avoid Eviction Entirely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Three optimizations: speculate + early-exit decode + inject result into KV-cache.</a:t>
            </a:r>
          </a:p>
        </p:txBody>
      </p:sp>
      <p:pic>
        <p:nvPicPr>
          <p:cNvPr id="6" name="Picture 5" descr="engine-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77724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Tool result injected directly into KV-cache, skipping re-prefill — adds 2–3% on top of client-side.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920240"/>
            <a:ext cx="3474720" cy="1188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006699"/>
                </a:solidFill>
                <a:latin typeface="Calibri"/>
              </a:defRPr>
            </a:pPr>
            <a:r>
              <a:t>O1  Speculate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Same as client-side:</a:t>
            </a:r>
            <a:br/>
            <a:r>
              <a:t>overlap tool exec with 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291840"/>
            <a:ext cx="3474720" cy="1188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006699"/>
                </a:solidFill>
                <a:latin typeface="Calibri"/>
              </a:defRPr>
            </a:pPr>
            <a:r>
              <a:t>O2  Early Exit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794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Cached tool call → validate</a:t>
            </a:r>
            <a:br/>
            <a:r>
              <a:t>in one forward pass.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663440"/>
            <a:ext cx="3474720" cy="1188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7091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006699"/>
                </a:solidFill>
                <a:latin typeface="Calibri"/>
              </a:defRPr>
            </a:pPr>
            <a:r>
              <a:t>O3  No Eviction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1663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Append result to KV-cache.</a:t>
            </a:r>
            <a:br/>
            <a:r>
              <a:t>No re-prefill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[Method]  ›  Theory  ›  Results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When Does Engine-side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O2 and O3 help only when the tool finishes before the model</a:t>
            </a:r>
            <a:br/>
            <a:r>
              <a:t>stops reasoning. Fast tools + long reasoning = ideal regime.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303520" cy="3200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2E8B57"/>
                </a:solidFill>
                <a:latin typeface="Calibri"/>
              </a:defRPr>
            </a:pPr>
            <a:r>
              <a:t>Works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Short tools: ls, search, file read</a:t>
            </a:r>
            <a:br/>
            <a:r>
              <a:t>(0–1 s execution)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Long reasoning traces</a:t>
            </a:r>
            <a:br/>
            <a:r>
              <a:t>(o1-style models: many tokens)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Tool finishes while model</a:t>
            </a:r>
            <a:br/>
            <a:r>
              <a:t>is still thinking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303520" cy="320040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CC3333"/>
                </a:solidFill>
                <a:latin typeface="Calibri"/>
              </a:defRPr>
            </a:pPr>
            <a:r>
              <a:t>No Extra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Long tools: DB queries, builds</a:t>
            </a:r>
            <a:br/>
            <a:r>
              <a:t>(&gt;3 s execution)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Short reasoning traces</a:t>
            </a:r>
            <a:br/>
            <a:r>
              <a:t>(model finishes before tool)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Result arrives too late</a:t>
            </a:r>
            <a:br/>
            <a:r>
              <a:t>for O2/O3 to help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2E8B57"/>
                </a:solidFill>
                <a:latin typeface="Calibri"/>
              </a:defRPr>
            </a:pPr>
            <a:r>
              <a:t>Key condition: tool time &lt; reasoning time. Modern reasoning models make this true for most common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[Theory]  ›  Results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Speedup Bound: Strictly Below 2×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You can only hide one phase at a time.</a:t>
            </a:r>
            <a:br/>
            <a:r>
              <a:t>If tool time ≈ gen time, you approach 2× — but never reach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6858000" cy="27432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Client-side speedup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333333"/>
                </a:solidFill>
                <a:latin typeface="Consolas"/>
              </a:defRPr>
            </a:pPr>
            <a:r>
              <a:t>S = (G + T) / [α · max{G, g+T} + (1−α)(G+T)]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06070"/>
                </a:solidFill>
                <a:latin typeface="Calibri"/>
              </a:defRPr>
            </a:pPr>
            <a:r>
              <a:t>▸ G = how long M takes to generate</a:t>
            </a:r>
          </a:p>
          <a:p>
            <a:pPr>
              <a:spcAft>
                <a:spcPts val="1000"/>
              </a:spcAft>
              <a:defRPr sz="2000">
                <a:solidFill>
                  <a:srgbClr val="606070"/>
                </a:solidFill>
                <a:latin typeface="Calibri"/>
              </a:defRPr>
            </a:pPr>
            <a:r>
              <a:t>▸ g = how long S takes (much shorter)</a:t>
            </a:r>
          </a:p>
          <a:p>
            <a:pPr>
              <a:spcAft>
                <a:spcPts val="1000"/>
              </a:spcAft>
              <a:defRPr sz="2000">
                <a:solidFill>
                  <a:srgbClr val="606070"/>
                </a:solidFill>
                <a:latin typeface="Calibri"/>
              </a:defRPr>
            </a:pPr>
            <a:r>
              <a:t>▸ T = how long the tool takes to run</a:t>
            </a:r>
          </a:p>
          <a:p>
            <a:pPr>
              <a:spcAft>
                <a:spcPts val="1000"/>
              </a:spcAft>
              <a:defRPr sz="2000">
                <a:solidFill>
                  <a:srgbClr val="606070"/>
                </a:solidFill>
                <a:latin typeface="Calibri"/>
              </a:defRPr>
            </a:pPr>
            <a:r>
              <a:t>▸ α = how often S predicts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94560"/>
            <a:ext cx="393192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2E8B57"/>
                </a:solidFill>
                <a:latin typeface="Calibri"/>
              </a:defRPr>
            </a:pPr>
            <a:r>
              <a:t>Lemma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743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2800" b="1" i="0">
                <a:solidFill>
                  <a:srgbClr val="2E8B57"/>
                </a:solidFill>
                <a:latin typeface="Consolas"/>
              </a:defRPr>
            </a:pPr>
            <a:r>
              <a:t>S &lt; 2  (strictly)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747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Best when T ≈ 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Needs α &gt; 0, g &lt; 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Proof: Appendix A</a:t>
            </a:r>
          </a:p>
        </p:txBody>
      </p:sp>
      <p:pic>
        <p:nvPicPr>
          <p:cNvPr id="14" name="Picture 13" descr="client-side-spec-model-speedup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20640"/>
            <a:ext cx="1124712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Speedup peaks near 1.8× at T≈G, α&gt;0.5 — the &lt;2× bound is tight.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[Results]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120B reasoning model + xLAM speculative models, BFCL benchmark.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3474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006699"/>
                </a:solidFill>
                <a:latin typeface="Calibri"/>
              </a:defRPr>
            </a:pPr>
            <a:r>
              <a:t>Models &amp;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Main model: gpt-oss-120b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Spec models: xLAM-2</a:t>
            </a:r>
            <a:br/>
            <a:r>
              <a:t>{1B, 3B, 8B}  (~80% acc)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BFCL benchmark, controlled</a:t>
            </a:r>
            <a:br/>
            <a:r>
              <a:t>tool latencies, {1, 8, 32}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3474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006699"/>
                </a:solidFill>
                <a:latin typeface="Calibri"/>
              </a:defRPr>
            </a:pPr>
            <a:r>
              <a:t>What We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Throughput: tok/s per agent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Time Saved: % reduction</a:t>
            </a:r>
            <a:br/>
            <a:r>
              <a:t>vs no-speculation baseline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Cost: extra $ per 100 turns</a:t>
            </a:r>
            <a:br/>
            <a:r>
              <a:t>(commercial API pricing)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2E8B57"/>
                </a:solidFill>
                <a:latin typeface="Calibri"/>
              </a:defRPr>
            </a:pPr>
            <a:r>
              <a:t>3 configs compared: baseline, client-side speculation, engine-side speculation.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[Results]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Client-side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6–21% end-to-end time saved. Sweet spot: tool time ≈ gen time.</a:t>
            </a:r>
          </a:p>
        </p:txBody>
      </p:sp>
      <p:pic>
        <p:nvPicPr>
          <p:cNvPr id="6" name="Picture 5" descr="acceptance_rates_tool_latency_1p5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5760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3035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Higher acceptance rate → higher throughput. 8B best; 1B@9× approaches it.</a:t>
            </a:r>
          </a:p>
        </p:txBody>
      </p:sp>
      <p:pic>
        <p:nvPicPr>
          <p:cNvPr id="8" name="Picture 7" descr="time-saved_32_clients_1_num_sp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76072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3035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32 agents: savings peak at T≈2–2.5 s (≈G). Even short tools yield 6%.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12471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2E8B57"/>
                </a:solidFill>
                <a:latin typeface="Calibri"/>
              </a:defRPr>
            </a:pPr>
            <a:r>
              <a:t>Results match theory: best when T ≈ G. Parallel sampling is cost-effective.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[Results]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Cost: Cheap Speculation, Real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λ=1 speculation: ~10% time saved for only ~4% extra cost.</a:t>
            </a:r>
          </a:p>
        </p:txBody>
      </p:sp>
      <p:pic>
        <p:nvPicPr>
          <p:cNvPr id="6" name="Picture 5" descr="results-cost-spec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77724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gpt-5 + gpt-5-nano: λ=1 is the sweet spot. Beyond λ=3, cost rises 25–30% with marginal 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011680"/>
            <a:ext cx="347472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2E8B57"/>
                </a:solidFill>
                <a:latin typeface="Calibri"/>
              </a:defRPr>
            </a:pPr>
            <a:r>
              <a:t>λ = 1 (best ratio)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0" i="0">
                <a:solidFill>
                  <a:srgbClr val="333333"/>
                </a:solidFill>
                <a:latin typeface="Calibri"/>
              </a:defRPr>
            </a:pPr>
            <a:r>
              <a:t>~10% time saved</a:t>
            </a:r>
            <a:br/>
            <a:r>
              <a:t>~4% cost increase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931920"/>
            <a:ext cx="3474720" cy="164592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CC3333"/>
                </a:solidFill>
                <a:latin typeface="Calibri"/>
              </a:defRPr>
            </a:pPr>
            <a:r>
              <a:t>λ = 9 (diminishing)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0" i="0">
                <a:solidFill>
                  <a:srgbClr val="333333"/>
                </a:solidFill>
                <a:latin typeface="Calibri"/>
              </a:defRPr>
            </a:pPr>
            <a:r>
              <a:t>Marginal extra savings</a:t>
            </a:r>
            <a:br/>
            <a:r>
              <a:t>25–30% cost increase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[Results]  ›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Engine-side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Additional 2–3% on top of client-side for short tools. Combined: 8–24%.</a:t>
            </a:r>
          </a:p>
        </p:txBody>
      </p:sp>
      <p:pic>
        <p:nvPicPr>
          <p:cNvPr id="6" name="Picture 5" descr="time-saved_1_clients_1_num_spec_by-a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82296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 i="1">
                <a:solidFill>
                  <a:srgbClr val="777777"/>
                </a:solidFill>
                <a:latin typeface="Calibri"/>
              </a:defRPr>
            </a:pPr>
            <a:r>
              <a:t>1 agent, xLAM-8B: engine-side adds 2–3% for 0–1 s tools. No benefit for long tools — result arrives too 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Best: fast tools</a:t>
            </a:r>
            <a:br/>
            <a:r>
              <a:t>(ls, search, read)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Tested batch=1</a:t>
            </a:r>
            <a:br/>
            <a:r>
              <a:t>(vLLM limitation)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035040"/>
            <a:ext cx="112471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8075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2E8B57"/>
                </a:solidFill>
                <a:latin typeface="Calibri"/>
              </a:defRPr>
            </a:pPr>
            <a:r>
              <a:t>Main gains come from client-side. Engine-side is a meaningful add-on for short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Results  ›  [Discussion]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What This Paper Does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A strong, deployable contribution with solid theoretical grounding.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1247120" cy="4114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Client-side works with ANY API today — zero changes,</a:t>
            </a:r>
            <a:br/>
            <a:r>
              <a:t>immediate deployment. This is the headline contribution.</a:t>
            </a:r>
          </a:p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Tight theoretical bound (S &lt; 2×) verified by experiments.</a:t>
            </a:r>
            <a:br/>
            <a:r>
              <a:t>Theory and results match — rare and valuable.</a:t>
            </a:r>
          </a:p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Practical cost analysis on real commercial APIs:</a:t>
            </a:r>
            <a:br/>
            <a:r>
              <a:t>10% time saved for 4% extra cost. Easy sell for production.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Results  ›  [Discussion]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Key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The main restriction: only works for stateless, cheap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1247120" cy="411480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Stateless tools only — no file writes, DB updates,</a:t>
            </a:r>
            <a:br/>
            <a:r>
              <a:t>or state mutation. Wrong speculation can’t be undone.</a:t>
            </a:r>
          </a:p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Client-side speedup bounded at &lt;2×. This is fundamental,</a:t>
            </a:r>
            <a:br/>
            <a:r>
              <a:t>not an artifact — you can only hide one phase.</a:t>
            </a:r>
          </a:p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Engine-side tested at batch=1 only; simulated tool latencies.</a:t>
            </a:r>
            <a:br/>
            <a:r>
              <a:t>Unclear how it scales under real multi-tenant load.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Results  ›  [Discussion]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Open questions for our group: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1188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Can speculation compose with parallel tool calling?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Would speedups stack, or do they target the same latency?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11247120" cy="1188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Does 80% accuracy hold on custom internal tools?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BFCL is standard; production toolsets may differ sharply.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1188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006699"/>
                </a:solidFill>
                <a:latin typeface="Calibri"/>
              </a:defRPr>
            </a:pPr>
            <a:r>
              <a:t>Could transactional rollback extend this to stateful tools?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The paper restricts to stateless — what if wrong calls are reversible?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 i="1">
                <a:solidFill>
                  <a:srgbClr val="777777"/>
                </a:solidFill>
                <a:latin typeface="Calibri"/>
              </a:defRPr>
            </a:pPr>
            <a:r>
              <a:t>These are my questions — not claims from the paper.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t>Motivation  ›  Method  ›  Theory  ›  Results  ›  [Discussion]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000" b="1" i="0">
                <a:solidFill>
                  <a:srgbClr val="006699"/>
                </a:solidFill>
                <a:latin typeface="Calibri"/>
              </a:defRPr>
            </a:pPr>
            <a:r>
              <a:t>Use a small model to predict tool calls early.</a:t>
            </a:r>
            <a:br/>
            <a:r>
              <a:t>Cheap, effective, and deployable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0332720" cy="3474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→ Client-side: 6–21% time saved, zero API changes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→ Engine-side: +2–3% for short tools via KV-cache injection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→ Theory: speedup &lt; 2×; sweet spot at T ≈ G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→ Cost: λ=1 gives ~10% savings at ~4% extra cost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39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017520"/>
            <a:ext cx="3017520" cy="36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0" i="0">
                <a:solidFill>
                  <a:srgbClr val="AABBC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0" i="0">
                <a:solidFill>
                  <a:srgbClr val="777777"/>
                </a:solidFill>
                <a:latin typeface="Calibri"/>
              </a:defRPr>
            </a:pPr>
            <a:r>
              <a:t>Paper: arXiv 2512.15834</a:t>
            </a:r>
            <a:br/>
            <a:r>
              <a:t>Nichols et al. — LLNL &amp; University of Maryland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 i="0">
                <a:solidFill>
                  <a:srgbClr val="555566"/>
                </a:solidFill>
                <a:latin typeface="Calibri"/>
              </a:defRPr>
            </a:pPr>
            <a:r>
              <a:t>───  Backup slides follow  ───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606070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2800" b="1" i="0">
                <a:solidFill>
                  <a:srgbClr val="606070"/>
                </a:solidFill>
                <a:latin typeface="Calibri"/>
              </a:defRPr>
            </a:pPr>
            <a:r>
              <a:t>Why S &lt; 2 (Proof Sketch)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777777"/>
                </a:solidFill>
                <a:latin typeface="Calibri"/>
              </a:defRPr>
            </a:pPr>
            <a:r>
              <a:t>Backup for Q&amp;A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3657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333333"/>
                </a:solidFill>
                <a:latin typeface="Consolas"/>
              </a:defRPr>
            </a:pPr>
            <a:r>
              <a:t>S = (G + T) / [α · max{G, g+T} + (1−α)(G+T)]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At α=1, g→0⁺:  S → (G+T) / max{G, T}</a:t>
            </a:r>
          </a:p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If G ≥ T:  S → 1 + T/G ≤ 2  (equality only at T = G)</a:t>
            </a:r>
          </a:p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If T &gt; G:  S → 1 + G/T &lt; 2  (since G &lt; T)</a:t>
            </a:r>
          </a:p>
          <a:p>
            <a:pPr>
              <a:spcAft>
                <a:spcPts val="11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Since g &gt; 0, denominator is strictly larger → S &lt; 2.  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606070"/>
                </a:solidFill>
                <a:latin typeface="Calibri"/>
              </a:defRPr>
            </a:pPr>
            <a:r>
              <a:t>Intuition: you can hide at most one phase. The other always remains.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606070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2800" b="1" i="0">
                <a:solidFill>
                  <a:srgbClr val="606070"/>
                </a:solidFill>
                <a:latin typeface="Calibri"/>
              </a:defRPr>
            </a:pPr>
            <a:r>
              <a:t>Engine-side Runtime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777777"/>
                </a:solidFill>
                <a:latin typeface="Calibri"/>
              </a:defRPr>
            </a:pPr>
            <a:r>
              <a:t>Backup for Q&amp;A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606070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0" i="0">
                <a:solidFill>
                  <a:srgbClr val="333333"/>
                </a:solidFill>
                <a:latin typeface="Consolas"/>
              </a:defRPr>
            </a:pPr>
            <a:r>
              <a:t>T = 2Ko + φ(prefill) + δΣ(Rᵢ+tᵢ) + Σ Tᵢ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 i="0">
                <a:solidFill>
                  <a:srgbClr val="606070"/>
                </a:solidFill>
                <a:latin typeface="Calibri"/>
              </a:defRPr>
            </a:pPr>
            <a:r>
              <a:t>overhead + prefill + decode + tool wait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1828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2E8B57"/>
                </a:solidFill>
                <a:latin typeface="Calibri"/>
              </a:defRPr>
            </a:pPr>
            <a:r>
              <a:t>With speculation (α = acceptance rate)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0" i="0">
                <a:solidFill>
                  <a:srgbClr val="333333"/>
                </a:solidFill>
                <a:latin typeface="Consolas"/>
              </a:defRPr>
            </a:pPr>
            <a:r>
              <a:t>T* = (1−α)·2Ko + φ(prefill) + δ(αK+ΣRᵢ+(1−α)Σtᵢ) + (1−α)ΣTᵢ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 i="0">
                <a:solidFill>
                  <a:srgbClr val="2E8B57"/>
                </a:solidFill>
                <a:latin typeface="Calibri"/>
              </a:defRPr>
            </a:pPr>
            <a:r>
              <a:t>At α=1: saves all overhead + decode savings + all tool 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2400" b="1" i="0">
                <a:solidFill>
                  <a:srgbClr val="606070"/>
                </a:solidFill>
                <a:latin typeface="Calibri"/>
              </a:defRPr>
            </a:pPr>
            <a:r>
              <a:t>Optimal: Tᵢ &lt; δRᵢ — tool finishes before reasoning 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